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ed031b1-f66d-2f2b-0f36-23292a955822}">
          <p14:sldIdLst>
            <p14:sldId id="256"/>
            <p14:sldId id="257"/>
            <p14:sldId id="258"/>
            <p14:sldId id="259"/>
            <p14:sldId id="260"/>
          </p14:sldIdLst>
        </p14:section>
        <p14:section name="Approach" id="{1ad2b4e5-1836-9f2c-6093-76a047655442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Implementation &amp; Results" id="{58f419b0-daa1-0ec9-c047-4a93c3f89a26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Wrap-up" id="{03579d3d-6cd2-43ec-e56e-d96631780383}">
          <p14:sldIdLst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1F3A"/>
                </a:solidFill>
                <a:latin typeface="+mn-lt"/>
              </a:rPr>
              <a:t>Fraud rate by transaction type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(%)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CASH_IN</c:v>
                  </c:pt>
                  <c:pt idx="1">
                    <c:v>CASH_OUT</c:v>
                  </c:pt>
                  <c:pt idx="2">
                    <c:v>DEBIT</c:v>
                  </c:pt>
                  <c:pt idx="3">
                    <c:v>PAYMENT</c:v>
                  </c:pt>
                  <c:pt idx="4">
                    <c:v>TRANSFER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0.184</c:v>
                </c:pt>
                <c:pt idx="2">
                  <c:v>0</c:v>
                </c:pt>
                <c:pt idx="3">
                  <c:v>0</c:v>
                </c:pt>
                <c:pt idx="4">
                  <c:v>0.769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097280"/>
            <a:ext cx="76809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5486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09728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Fraudulent Transaction Clustering Using DBSCAN-Based Anomaly Detection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CASE-STUDY BASED REPORT  |  MACHINE LEARNING  |  B.TECH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Arikela Sumanjali  (2520090190)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Gatik Sharma  (2520090223)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Guide: Dr. Y. Lakshmi Prasanna, Asst. Professor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Department of CS&amp;IT, K L University, Hyderabad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Academic Year 2026-27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155448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/home/claude/report_media/word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828800"/>
            <a:ext cx="2103120" cy="21125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Introduction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47548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Background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Digital payments are growing fast, and so is fraud. Fraudsters keep changing their tactics.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47548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Domain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3172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Unsupervised machine learning: clustering groups similar transactions without needing labels.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474720" cy="47548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6916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Why it is needed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33172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Static rules and supervised models struggle with new, unseen fraud patterns.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47548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Existing problem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Spot unusual transactions without fraud rules or labels, then check them against isFraud.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47548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Challenges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3172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Rule systems raise many false alarms, and fraud is only 0.13% of the data.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474720" cy="47548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6916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Who is affected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33172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Banks, payment providers and customers who lose money to fraud.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Motivation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47548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Why this project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 test whether label-free clustering can surface real fraud in transaction data.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47548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Real-world need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3172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Institutions process millions of transactions daily and cannot review each one.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474720" cy="47548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6916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Industry interest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33172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Anomaly detection can adapt to fraud tactics that labeled models have never seen.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Main objective: 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detect anomalous transactions with DBSCAN and test whether they match actual fraud.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3721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017520"/>
            <a:ext cx="4366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Explore the data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57600"/>
            <a:ext cx="4914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EDA on 6.36M PaySim transactions.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40780" y="2788920"/>
            <a:ext cx="53721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9380" y="3017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93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63740" y="3017520"/>
            <a:ext cx="4366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Prepare features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69380" y="3657600"/>
            <a:ext cx="4914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Select, one-hot encode and scale features.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53721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892040"/>
            <a:ext cx="4366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Apply DBSCAN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532120"/>
            <a:ext cx="4914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clusters and noise points (anomalies).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40780" y="4663440"/>
            <a:ext cx="53721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9380" y="4892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693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63740" y="4892040"/>
            <a:ext cx="4366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Evaluate outliers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469380" y="5532120"/>
            <a:ext cx="4914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Compare with isFraud: precision, recall, F1.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Existing 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7210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23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Current approaches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48234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Rule-based systems with fixed thresholds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Supervised ML trained on labeled history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Both depend on past, known fraud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40780" y="1463040"/>
            <a:ext cx="537210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5100" y="1691640"/>
            <a:ext cx="4823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Limitations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15100" y="2331720"/>
            <a:ext cx="48234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Static rules are easy to evade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Many false positives overwhelm analysts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Supervised models miss zero-day fraud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Large labeled datasets are required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Proposed 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7210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23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Proposed solution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48234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Unsupervised DBSCAN on scaled transaction features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Dense groups define normal behavior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Points outside clusters (label -1) are anomalies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isFraud is used only afterwards, for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40780" y="1463040"/>
            <a:ext cx="537210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5100" y="1691640"/>
            <a:ext cx="4823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How it helps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15100" y="2331720"/>
            <a:ext cx="48234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fraud labels needed during detection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predefined rules or thresholds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need to choose the number of clusters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Can flag new, unseen patterns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331720" cy="30175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Input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1874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PaySim transactions: 6,362,620 rows x 11 columns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71800" y="2926080"/>
            <a:ext cx="393192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6432" y="1645920"/>
            <a:ext cx="2331720" cy="30175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5032" y="1874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8503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79392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Processing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2651760"/>
            <a:ext cx="1874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Feature selection, one-hot encoding of type, scaling, 100,000-row sample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79592" y="2926080"/>
            <a:ext cx="393192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645920"/>
            <a:ext cx="2331720" cy="30175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92824" y="18745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9282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87184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Model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592824" y="2651760"/>
            <a:ext cx="1874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DBSCAN with eps = 0.5 and min_samples = 10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87384" y="2926080"/>
            <a:ext cx="393192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16" y="1645920"/>
            <a:ext cx="2331720" cy="30175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00616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0061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094976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Output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500616" y="2651760"/>
            <a:ext cx="1874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Cluster labels, anomalies (-1), PCA plots, precision / recall / F1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isFraud never enters the model. It is compared with the detected anomalies only after clustering.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Methodology /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2514600"/>
            <a:ext cx="1426464" cy="5486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4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Load 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PaySim CSV, 11 columns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53512" y="2514600"/>
            <a:ext cx="1426464" cy="5486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51176" y="21945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51176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30552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EDA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130552" y="3794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Types, fraud, balances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35424" y="2514600"/>
            <a:ext cx="1426464" cy="5486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33088" y="21945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3308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12464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Select Features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712464" y="3794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numeric + type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17336" y="2514600"/>
            <a:ext cx="1426464" cy="5486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1500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94376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Encode &amp; Scale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294376" y="3794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One-hot, StandardScaler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99248" y="2514600"/>
            <a:ext cx="1426464" cy="5486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96912" y="21945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96912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76288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Sample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76288" y="3794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100,000 random rows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281160" y="2514600"/>
            <a:ext cx="1426464" cy="5486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8824" y="21945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78824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45820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DBSCAN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3794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eps 0.5, min_samples 10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460736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460736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040112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Evaluate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0040112" y="3794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Metrics and PCA plots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46888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Language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33756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Python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267712"/>
            <a:ext cx="246888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677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Data handling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2677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Pandas, NumPy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072384"/>
            <a:ext cx="2468880" cy="6858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7238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ML library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07238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scikit-learn: StandardScaler, DBSCAN, PCA, metrics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246888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7705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Visualization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387705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Matplotlib, Seaborn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681728"/>
            <a:ext cx="246888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6817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Environment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4681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Python notebook (Jupyter / Colab)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2468880" cy="6858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86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Data source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337560" y="5486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PaySim CSV file (no database used)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System Modules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Data Loading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Reads the PaySim CSV and checks shape and types.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EDA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3172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Transaction types, fraud rates, correlations.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6916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Preprocessing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33172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One-hot encoding, cleaning, standard scaling.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00050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2291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2291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DBSCAN Module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6918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Clusters a 100,000-row sample; noise becomes anomalies.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43400" y="400050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42291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2291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Evaluation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86918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Confusion matrix, precision, recall and F1 against isFraud.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38160" y="400050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760" y="42291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66760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42291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Visualization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86918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PCA plots of clusters and detected anomalies.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Dataset / Input Data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6,362,620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70709"/>
            <a:ext cx="292608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Transactions (PaySim, synthetic)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61688" y="146304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36008" y="1600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</a:rPr>
              <a:t>11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4636008" y="2470709"/>
            <a:ext cx="292608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Attributes per transaction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74736" y="1463040"/>
            <a:ext cx="343814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49056" y="160020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0.129%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449056" y="2470709"/>
            <a:ext cx="288950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Fraud: 8,213 transactions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11880"/>
            <a:ext cx="11064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Features: step, amount, four balance fields and one-hot transaction type (11 in total)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Cleaning: inf values set to NaN, then 0; no missing values or duplicates found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Scaling: StandardScaler applied to all 11 features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isFraud is held out and used only to evaluate the anomalies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Exploratory Data Analysis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60350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858000" y="1463040"/>
            <a:ext cx="475488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13232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Key findings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132320" y="233172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Fraud occurs only in TRANSFER and CASH_OUT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TRANSFER has the highest fraud rate (0.77%)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Average fraud amount is 1.47M vs 0.18M for normal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Extreme imbalance: 8,213 fraud vs 6.35M normal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Implementation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Select 6 numeric features and one-hot encode transaction type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Clean inf/NaN values and standardize with StandardScaler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Draw a 100,000-row random sample (seed 42)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Fit DBSCAN (eps 0.5, min_samples 10); label -1 marks an anomaly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Compare with isFraud and reduce to 2D with PCA for plots</a:t>
            </a:r>
            <a:endParaRPr lang="en-US" sz="1800" dirty="0"/>
          </a:p>
        </p:txBody>
      </p:sp>
      <p:pic>
        <p:nvPicPr>
          <p:cNvPr id="4" name="Image 0" descr="/home/claude/report_media/word/media/imag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63040"/>
            <a:ext cx="5120640" cy="1988013"/>
          </a:xfrm>
          <a:prstGeom prst="rect">
            <a:avLst/>
          </a:prstGeom>
        </p:spPr>
      </p:pic>
      <p:pic>
        <p:nvPicPr>
          <p:cNvPr id="5" name="Image 1" descr="/home/claude/report_media/word/media/image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22948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Algorithm /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Why DBSCAN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Density-based: needs no labels or cluster count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Finds clusters of any shape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Marks sparse points as noise (-1)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Noise points are natural anomaly candidates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5212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1600200"/>
            <a:ext cx="46634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0.5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285086"/>
            <a:ext cx="46634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eps: neighborhood radius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3108960"/>
            <a:ext cx="5212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3246120"/>
            <a:ext cx="46634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10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931006"/>
            <a:ext cx="46634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min_samples: points needed for a dense core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4754880"/>
            <a:ext cx="5212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4892040"/>
            <a:ext cx="46634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</a:rPr>
              <a:t>15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5576926"/>
            <a:ext cx="46634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clusters found, plus noise points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4"/>
                </a:solidFill>
              </a:rPr>
              <a:t>0.0246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5086"/>
            <a:ext cx="48463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Precision: 48 of 1,951 flagged were fraud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46120"/>
            <a:ext cx="48463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</a:rPr>
              <a:t>0.3404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006"/>
            <a:ext cx="48463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Recall: 48 of 141 frauds were caught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892040"/>
            <a:ext cx="48463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0.0459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576926"/>
            <a:ext cx="48463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F1 score on the 100,000-row sample</a:t>
            </a:r>
            <a:endParaRPr lang="en-US" sz="1500" dirty="0"/>
          </a:p>
        </p:txBody>
      </p:sp>
      <p:pic>
        <p:nvPicPr>
          <p:cNvPr id="12" name="Image 0" descr="/home/claude/report_media/word/media/imag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63040"/>
            <a:ext cx="4937760" cy="437052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92240" y="5897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Confusion matrix: 1,951 anomalies out of 100,000 transactions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Visualizing the Anomalies</a:t>
            </a:r>
            <a:endParaRPr lang="en-US" sz="3600" dirty="0"/>
          </a:p>
        </p:txBody>
      </p:sp>
      <p:pic>
        <p:nvPicPr>
          <p:cNvPr id="3" name="Image 0" descr="/home/claude/report_media/word/media/imag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394960" cy="4166405"/>
          </a:xfrm>
          <a:prstGeom prst="rect">
            <a:avLst/>
          </a:prstGeom>
        </p:spPr>
      </p:pic>
      <p:pic>
        <p:nvPicPr>
          <p:cNvPr id="4" name="Image 1" descr="/home/claude/report_media/word/media/image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94960" cy="396053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06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Clusters in PCA space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309360" y="5806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DBSCAN anomalies (orange) vs clustered points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Result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47548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Fraud caught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48 of 141 frauds (34%) were flagged as outliers; 93 were missed.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47548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False alarms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3172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1,903 normal transactions were flagged too, so precision is only 2.5%.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474720" cy="47548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6916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Versus random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33172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Fraud is 0.14% of the sample, so DBSCAN precision is about 17x higher.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Advantages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7210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4366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 labels needed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491490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Detection works without fraud labels or predefined rules.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0780" y="1463040"/>
            <a:ext cx="537210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6938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93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63740" y="1691640"/>
            <a:ext cx="4366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Finds new patterns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69380" y="2331720"/>
            <a:ext cx="491490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Can flag unseen, zero-day fraud behavior.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00500"/>
            <a:ext cx="537210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2291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229100"/>
            <a:ext cx="4366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 cluster count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69180"/>
            <a:ext cx="491490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Unlike K-Means, DBSCAN does not need k up front.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40780" y="4000500"/>
            <a:ext cx="537210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9380" y="42291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9380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63740" y="4229100"/>
            <a:ext cx="4366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Built-in outliers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69380" y="4869180"/>
            <a:ext cx="491490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Noise points directly give anomaly candidates.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Applications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Banks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Screening large daily transaction volumes.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Mobile money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3172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Spotting unusual TRANSFER and CASH_OUT activity.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6916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Payment apps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33172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First-stage alerts for risk teams.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00050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2291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2291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E-commerce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6918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Flagging abnormal purchase behavior.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43400" y="400050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42291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2291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Insurance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86918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Surfacing suspicious claim patterns.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38160" y="400050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760" y="42291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66760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42291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Fraud analysts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86918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Prioritizing cases for manual review.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Limitations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7210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4366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Low precision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491490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1,903 false alarms against 48 true hits.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0780" y="1463040"/>
            <a:ext cx="537210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6938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93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63740" y="1691640"/>
            <a:ext cx="4366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Sample only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69380" y="2331720"/>
            <a:ext cx="491490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100,000 of 6.36M transactions were clustered.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00500"/>
            <a:ext cx="537210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2291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229100"/>
            <a:ext cx="4366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Fixed parameters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69180"/>
            <a:ext cx="491490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eps = 0.5 and min_samples = 10 were not tuned.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40780" y="4000500"/>
            <a:ext cx="537210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9380" y="42291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9380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63740" y="4229100"/>
            <a:ext cx="4366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Synthetic data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69380" y="4869180"/>
            <a:ext cx="491490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PaySim is simulated; outliers are unusual, not always fraudulent.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Future Scope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Tune parameters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 a k-distance plot to choose eps and min_samples.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Better features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3172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Add balance-mismatch features per transaction.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6916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Other detectors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33172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Compare Isolation Forest, LOF and autoencoders.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00050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2291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2291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Hybrid approach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6918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Combine clustering with supervised models.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43400" y="400050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42291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2291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Full dataset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86918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Scale clustering beyond the 100,000-row sample.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38160" y="4000500"/>
            <a:ext cx="3474720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760" y="42291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66760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42291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Deployment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869180"/>
            <a:ext cx="30175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Real-time scoring in a payment pipeline.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548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0698480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212140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737360"/>
            <a:ext cx="9326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What was achieved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DBSCAN grouped 100,000 transactions into 15 clusters and flagged 1,951 as anomalies.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10698480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67588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675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291840"/>
            <a:ext cx="9326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Key outcome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It caught 48 of 141 frauds (34% recall), but precision was only 2.5%.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4846320"/>
            <a:ext cx="10698480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523036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5230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846320"/>
            <a:ext cx="9326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Overall contribution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Label-free clustering works as a first-stage filter; pair it with richer features or supervised models.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udDBSCAN">
  <a:themeElements>
    <a:clrScheme name="FraudDBSCAN">
      <a:dk1>
        <a:srgbClr val="1B2A41"/>
      </a:dk1>
      <a:lt1>
        <a:srgbClr val="FFFFFF"/>
      </a:lt1>
      <a:dk2>
        <a:srgbClr val="0B1F3A"/>
      </a:dk2>
      <a:lt2>
        <a:srgbClr val="EEF3F9"/>
      </a:lt2>
      <a:accent1>
        <a:srgbClr val="1F77B4"/>
      </a:accent1>
      <a:accent2>
        <a:srgbClr val="F28C28"/>
      </a:accent2>
      <a:accent3>
        <a:srgbClr val="2A9D8F"/>
      </a:accent3>
      <a:accent4>
        <a:srgbClr val="D1495B"/>
      </a:accent4>
      <a:accent5>
        <a:srgbClr val="6C757D"/>
      </a:accent5>
      <a:accent6>
        <a:srgbClr val="F2C14E"/>
      </a:accent6>
      <a:hlink>
        <a:srgbClr val="1F77B4"/>
      </a:hlink>
      <a:folHlink>
        <a:srgbClr val="6C757D"/>
      </a:folHlink>
    </a:clrScheme>
    <a:fontScheme name="FraudDBSC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Fraudulent Transaction Clustering Using DBSCAN</dc:title>
  <dc:subject>PptxGenJS Presentation</dc:subject>
  <dc:creator>PptxGenJS</dc:creator>
  <cp:lastModifiedBy>PptxGenJS</cp:lastModifiedBy>
  <cp:revision>1</cp:revision>
  <dcterms:created xsi:type="dcterms:W3CDTF">2026-10-14T05:43:01Z</dcterms:created>
  <dcterms:modified xsi:type="dcterms:W3CDTF">2026-10-14T05:43:01Z</dcterms:modified>
</cp:coreProperties>
</file>